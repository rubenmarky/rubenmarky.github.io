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6B331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EPET N°7 · 1° E.P.J.A.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A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Unidad 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Pensamiento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computacional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bisagra hacia 2° año.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pensar como una computadora.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B8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Informática  ·  Ciclo lectivo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vamos a aprender?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habilidades clave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estructuras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063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3063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32320" y="3063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algoritmo?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840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3232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4617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flujo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4617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0" y="4617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· primer programa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vas a programar nada complejo todavía. Pero vas a sentar las bases de todo.»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Pensamiento computacional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habilidades para resolver cualquier problema, no solo informático.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26289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68880"/>
            <a:ext cx="2628900" cy="137160"/>
          </a:xfrm>
          <a:prstGeom prst="rect">
            <a:avLst/>
          </a:prstGeom>
          <a:solidFill>
            <a:srgbClr val="7A4FB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43200"/>
            <a:ext cx="26289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🧩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7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389120"/>
            <a:ext cx="23545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un problema grande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problemas más pequeños.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43300" y="2468880"/>
            <a:ext cx="26289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3300" y="2468880"/>
            <a:ext cx="2628900" cy="137160"/>
          </a:xfrm>
          <a:prstGeom prst="rect">
            <a:avLst/>
          </a:prstGeom>
          <a:solidFill>
            <a:srgbClr val="7A4FB0"/>
          </a:solidFill>
          <a:ln/>
        </p:spPr>
      </p:sp>
      <p:sp>
        <p:nvSpPr>
          <p:cNvPr id="12" name="Text 10"/>
          <p:cNvSpPr/>
          <p:nvPr/>
        </p:nvSpPr>
        <p:spPr>
          <a:xfrm>
            <a:off x="3543300" y="2743200"/>
            <a:ext cx="26289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🔍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3543300" y="3840480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7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80460" y="4389120"/>
            <a:ext cx="23545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lo que se repite,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tiene estructura común.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2468880"/>
            <a:ext cx="26289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2468880"/>
            <a:ext cx="2628900" cy="137160"/>
          </a:xfrm>
          <a:prstGeom prst="rect">
            <a:avLst/>
          </a:prstGeom>
          <a:solidFill>
            <a:srgbClr val="7A4F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743200"/>
            <a:ext cx="26289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✨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355080" y="3840480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7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389120"/>
            <a:ext cx="23545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lado los detalles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irrelevantes. Quedarse con lo esencial.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66860" y="2468880"/>
            <a:ext cx="26289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66860" y="2468880"/>
            <a:ext cx="2628900" cy="137160"/>
          </a:xfrm>
          <a:prstGeom prst="rect">
            <a:avLst/>
          </a:prstGeom>
          <a:solidFill>
            <a:srgbClr val="7A4FB0"/>
          </a:solidFill>
          <a:ln/>
        </p:spPr>
      </p:sp>
      <p:sp>
        <p:nvSpPr>
          <p:cNvPr id="22" name="Text 20"/>
          <p:cNvSpPr/>
          <p:nvPr/>
        </p:nvSpPr>
        <p:spPr>
          <a:xfrm>
            <a:off x="9166860" y="2743200"/>
            <a:ext cx="26289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🪜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9166860" y="3840480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7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04020" y="4389120"/>
            <a:ext cx="23545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secuencia precisa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pasos que resuelvan el problema.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historia para arrancar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Enseñarle a hacer un mate a un niño/a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3035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2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23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Mala explicación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«Agarrá el mate,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ponele yerba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echale agua.»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Yerba volcada, agua quemada,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 inservible.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3035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3F6B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423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Algoritmo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926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Calentás el agua sin que hierva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Yerba hasta 3/4 del mate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Inclinás el mate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Chorrito de agua tibia primero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Bombilla del lado seco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Agua caliente sobre la bombilla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5532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Eso es un algoritmo.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Descomposición: dividir para vencer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«Organizar una fiesta» suena imposible.  Pero si lo dividimos…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0881360" cy="914400"/>
          </a:xfrm>
          <a:prstGeom prst="rect">
            <a:avLst/>
          </a:prstGeom>
          <a:solidFill>
            <a:srgbClr val="7A4FB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ORGANIZAR UNA FIESTA DE CUMPLEAÑOS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632F"/>
                </a:solidFill>
              </a:rPr>
              <a:t>↓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A4F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840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Fecha y lugar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3840480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A4F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3840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Invitados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3840480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A4F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3840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Comida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846320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A4F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8463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34840" y="4846320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A4F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48463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Música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8160" y="4846320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A4F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48463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Decoración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cada parte se puede descomponer todavía más.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un algoritmo?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881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137160" cy="1371600"/>
          </a:xfrm>
          <a:prstGeom prst="rect">
            <a:avLst/>
          </a:prstGeom>
          <a:solidFill>
            <a:srgbClr val="7A4FB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031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Secuencia ordenada y finita de pasos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resuelve un problema o realiza una tarea.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 UN BUEN ALGORITMO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26289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06240"/>
            <a:ext cx="2628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4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754880"/>
            <a:ext cx="23545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ambigüedades.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«Una cucharadita» mejor que «un poco».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43300" y="4114800"/>
            <a:ext cx="26289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3300" y="4206240"/>
            <a:ext cx="2628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4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ORDENADO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80460" y="4754880"/>
            <a:ext cx="23545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van en una secuencia.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orden, cambia el resultado.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4114800"/>
            <a:ext cx="26289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4206240"/>
            <a:ext cx="2628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4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FINITO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4754880"/>
            <a:ext cx="23545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principio y un final.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en algún momento.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66860" y="4114800"/>
            <a:ext cx="26289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6860" y="4206240"/>
            <a:ext cx="2628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4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EFICAZ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04020" y="4754880"/>
            <a:ext cx="23545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el problema.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al resultado esperado.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Diagramas de flujo: símbolos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diagrama de flujo es una manera VISUAL de dibujar un algoritmo.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578608"/>
            <a:ext cx="1097280" cy="502920"/>
          </a:xfrm>
          <a:prstGeom prst="ellipse">
            <a:avLst/>
          </a:prstGeom>
          <a:solidFill>
            <a:srgbClr val="7A4FB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468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ÓVALO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24688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o fin del algoritmo.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«Inicio», «Fin».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493008"/>
            <a:ext cx="1097280" cy="502920"/>
          </a:xfrm>
          <a:prstGeom prst="rect">
            <a:avLst/>
          </a:prstGeom>
          <a:solidFill>
            <a:srgbClr val="7A4FB0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383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RECTÁNGULO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33832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o proceso.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«Sumar A + B», «Hervir el agua».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407408"/>
            <a:ext cx="1097280" cy="502920"/>
          </a:xfrm>
          <a:prstGeom prst="diamond">
            <a:avLst/>
          </a:prstGeom>
          <a:solidFill>
            <a:srgbClr val="7A4FB0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4297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ROMBO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42976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dos caminos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una condición.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321808"/>
            <a:ext cx="1097280" cy="502920"/>
          </a:xfrm>
          <a:prstGeom prst="parallelogram">
            <a:avLst/>
          </a:prstGeom>
          <a:solidFill>
            <a:srgbClr val="7A4FB0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52120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PARALELOGRAMO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52120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o salida de datos.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«Leer nombre», «Mostrar resultado».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flujo · ejemplo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¿Llevo paraguas?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983480" y="2194560"/>
            <a:ext cx="219456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A4F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8348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4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Inicio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2697480"/>
            <a:ext cx="0" cy="274320"/>
          </a:xfrm>
          <a:prstGeom prst="line">
            <a:avLst/>
          </a:prstGeom>
          <a:noFill/>
          <a:ln w="25400">
            <a:solidFill>
              <a:srgbClr val="7A4FB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26280" y="3017520"/>
            <a:ext cx="310896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7A4F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3017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Mirar el cielo / pronóstico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3520440"/>
            <a:ext cx="0" cy="274320"/>
          </a:xfrm>
          <a:prstGeom prst="line">
            <a:avLst/>
          </a:prstGeom>
          <a:noFill/>
          <a:ln w="25400">
            <a:solidFill>
              <a:srgbClr val="7A4FB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26280" y="3794760"/>
            <a:ext cx="3108960" cy="1097280"/>
          </a:xfrm>
          <a:prstGeom prst="diamond">
            <a:avLst/>
          </a:prstGeom>
          <a:solidFill>
            <a:srgbClr val="FFF4E0"/>
          </a:solidFill>
          <a:ln w="25400">
            <a:solidFill>
              <a:srgbClr val="B86E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3794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probabilidad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lluvia?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0" y="4297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69080" y="4297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3F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4343400"/>
            <a:ext cx="1005840" cy="548640"/>
          </a:xfrm>
          <a:prstGeom prst="line">
            <a:avLst/>
          </a:prstGeom>
          <a:noFill/>
          <a:ln w="25400">
            <a:solidFill>
              <a:srgbClr val="7A4FB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26280" y="4343400"/>
            <a:ext cx="-1005840" cy="548640"/>
          </a:xfrm>
          <a:prstGeom prst="line">
            <a:avLst/>
          </a:prstGeom>
          <a:noFill/>
          <a:ln w="25400">
            <a:solidFill>
              <a:srgbClr val="7A4F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0" y="4937760"/>
            <a:ext cx="310896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4937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paraguas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937760"/>
            <a:ext cx="310896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3F6B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937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sin paraguas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84080" y="5440680"/>
            <a:ext cx="0" cy="274320"/>
          </a:xfrm>
          <a:prstGeom prst="line">
            <a:avLst/>
          </a:prstGeom>
          <a:noFill/>
          <a:ln w="25400">
            <a:solidFill>
              <a:srgbClr val="7A4F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5440680"/>
            <a:ext cx="0" cy="274320"/>
          </a:xfrm>
          <a:prstGeom prst="line">
            <a:avLst/>
          </a:prstGeom>
          <a:noFill/>
          <a:ln w="25400">
            <a:solidFill>
              <a:srgbClr val="7A4F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5715000"/>
            <a:ext cx="7406640" cy="0"/>
          </a:xfrm>
          <a:prstGeom prst="line">
            <a:avLst/>
          </a:prstGeom>
          <a:noFill/>
          <a:ln w="25400">
            <a:solidFill>
              <a:srgbClr val="7A4F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5715000"/>
            <a:ext cx="0" cy="365760"/>
          </a:xfrm>
          <a:prstGeom prst="line">
            <a:avLst/>
          </a:prstGeom>
          <a:noFill/>
          <a:ln w="25400">
            <a:solidFill>
              <a:srgbClr val="7A4FB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983480" y="6126480"/>
            <a:ext cx="2194560" cy="365760"/>
          </a:xfrm>
          <a:prstGeom prst="ellipse">
            <a:avLst/>
          </a:prstGeom>
          <a:solidFill>
            <a:srgbClr val="7A4FB0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6126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Salir de casa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2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clave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Programar es aprender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ser PRECISO/A.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preciso/a que cualquier persona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 cualquier computadora)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pueda seguir tus instrucciones sin pifiarla.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 lográs, ya sabés lo más difícil de programar.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tres estructuras básicas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programación del mundo se construye combinando solo estas tres.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68880"/>
            <a:ext cx="3566160" cy="7772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688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SECUENCIA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↓ ↓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se ejecutan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detrás del otro.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24688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468880"/>
            <a:ext cx="3566160" cy="77724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4688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SELECCIÓN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3474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63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↙ ◇ ↘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754880" y="4709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una condición,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una cosa u otra.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12480" y="24688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2468880"/>
            <a:ext cx="3566160" cy="777240"/>
          </a:xfrm>
          <a:prstGeom prst="rect">
            <a:avLst/>
          </a:prstGeom>
          <a:solidFill>
            <a:srgbClr val="7A4FB0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0" y="24688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412480" y="2468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ITERACIÓN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0" y="3474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A4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 ↻ ↻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595360" y="4709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una acción mientras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cumpla una condición.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2  ·  Selección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... ENTONCES ... SI NO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486400" cy="320040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94560"/>
            <a:ext cx="91440" cy="3200400"/>
          </a:xfrm>
          <a:prstGeom prst="rect">
            <a:avLst/>
          </a:prstGeom>
          <a:solidFill>
            <a:srgbClr val="E8A36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</a:t>
            </a:r>
            <a:pPr indent="0" marL="0">
              <a:buNone/>
            </a:pPr>
            <a:r>
              <a:rPr lang="en-US" sz="18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hace frío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8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ENTONCES </a:t>
            </a:r>
            <a:pPr indent="0" marL="0">
              <a:buNone/>
            </a:pPr>
            <a:r>
              <a:rPr lang="en-US" sz="18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poner una campera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NO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salir con remera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SI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COTIDIANOS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274320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743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llueve, ENTONCES llevar paraguas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338328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383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nota ≥ 7, ENTONCES aprobado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402336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023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edad ≥ 18, ENTONCES puede votar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466344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663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tengo plata, ENTONCES compro mercadería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condición se evalúa: si es verdadera, se ejecuta ENTONCES; si es falsa, SI NO.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3  ·  Iteración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MIENTRAS ... REPETIR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486400" cy="320040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94560"/>
            <a:ext cx="91440" cy="3200400"/>
          </a:xfrm>
          <a:prstGeom prst="rect">
            <a:avLst/>
          </a:prstGeom>
          <a:solidFill>
            <a:srgbClr val="E8A36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MIENTRAS </a:t>
            </a:r>
            <a:pPr indent="0" marL="0">
              <a:buNone/>
            </a:pPr>
            <a:r>
              <a:rPr lang="en-US" sz="18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mate no esté lavado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echar agua caliente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tomar el mate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pasar al siguiente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MIENTRAS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COTIDIANOS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274320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743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haya platos sucios, lavar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338328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383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no llegue el colectivo, esperar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402336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023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la masa esté pegajosa, amasar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466344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663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saludar HASTA fin de jornada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la condición sea verdadera, se repiten los pasos. Cuando se vuelve falsa, salimos.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Variables: un recipiente con nombre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sobre con etiqueta. La etiqueta es el nombre. Adentro hay un valor.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5486400" cy="292608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377440"/>
            <a:ext cx="91440" cy="2926080"/>
          </a:xfrm>
          <a:prstGeom prst="rect">
            <a:avLst/>
          </a:prstGeom>
          <a:solidFill>
            <a:srgbClr val="E8A36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horas</a:t>
            </a:r>
            <a:pPr indent="0" marL="0">
              <a:buNone/>
            </a:pPr>
            <a:r>
              <a:rPr lang="en-US" sz="1500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</a:t>
            </a:r>
            <a:pPr indent="0" marL="0">
              <a:buNone/>
            </a:pPr>
            <a:r>
              <a:rPr lang="en-US" sz="15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9900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valor_hora</a:t>
            </a:r>
            <a:pPr indent="0" marL="0">
              <a:buNone/>
            </a:pPr>
            <a:r>
              <a:rPr lang="en-US" sz="1500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</a:t>
            </a:r>
            <a:pPr indent="0" marL="0">
              <a:buNone/>
            </a:pPr>
            <a:r>
              <a:rPr lang="en-US" sz="15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3741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7581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sueldo</a:t>
            </a:r>
            <a:pPr indent="0" marL="0">
              <a:buNone/>
            </a:pPr>
            <a:r>
              <a:rPr lang="en-US" sz="1500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</a:t>
            </a:r>
            <a:pPr indent="0" marL="0">
              <a:buNone/>
            </a:pPr>
            <a:r>
              <a:rPr lang="en-US" sz="15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horas</a:t>
            </a:r>
            <a:pPr indent="0" marL="0">
              <a:buNone/>
            </a:pPr>
            <a:r>
              <a:rPr lang="en-US" sz="1500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indent="0" marL="0">
              <a:buNone/>
            </a:pPr>
            <a:r>
              <a:rPr lang="en-US" sz="15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valor_hora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1422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sueldo guarda ahora: 60000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283464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880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4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Numérico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2880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1, 100, 3.14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370332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4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"Hola", "María"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457200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617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4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Lógico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4617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VERDADERO, FALSO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 llaman variables porque su valor puede cambiar a lo largo del programa.»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Pseudocódigo: el algoritmo escrito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intermedia entre el lenguaje natural y un lenguaje de programación real.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0" y="2468880"/>
            <a:ext cx="8503920" cy="347472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2468880"/>
            <a:ext cx="91440" cy="3474720"/>
          </a:xfrm>
          <a:prstGeom prst="rect">
            <a:avLst/>
          </a:prstGeom>
          <a:solidFill>
            <a:srgbClr val="E8A36A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2606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ALGORITMO </a:t>
            </a:r>
            <a:pPr indent="0" marL="0">
              <a:buNone/>
            </a:pPr>
            <a:r>
              <a:rPr lang="en-US" sz="22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nombre_del_algoritmo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03120" y="3154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</a:t>
            </a:r>
            <a:pPr indent="0" marL="0">
              <a:buNone/>
            </a:pPr>
            <a:r>
              <a:rPr lang="en-US" sz="22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03120" y="3703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(declarar las variables que vamos a usar)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03120" y="42519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03120" y="4800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(los pasos del algoritmo)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03120" y="5349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estructura general que vas a usar siempre.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· ejemplo con SELECCIÓN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¿Mayor o menor de edad?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2286000"/>
            <a:ext cx="9418320" cy="393192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286000"/>
            <a:ext cx="91440" cy="3931920"/>
          </a:xfrm>
          <a:prstGeom prst="rect">
            <a:avLst/>
          </a:prstGeom>
          <a:solidFill>
            <a:srgbClr val="E8A36A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37744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ALGORITMO </a:t>
            </a:r>
            <a:pPr indent="0" marL="0">
              <a:buNone/>
            </a:pPr>
            <a:r>
              <a:rPr lang="en-US" sz="14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mayor_de_edad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273405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</a:t>
            </a:r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3090672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numérico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344728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3803904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 </a:t>
            </a:r>
            <a:pPr indent="0" marL="0">
              <a:buNone/>
            </a:pPr>
            <a:r>
              <a:rPr lang="en-US" sz="14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416052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</a:t>
            </a:r>
            <a:pPr indent="0" marL="0">
              <a:buNone/>
            </a:pPr>
            <a:r>
              <a:rPr lang="en-US" sz="14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18 </a:t>
            </a:r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ENTONCES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451713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 </a:t>
            </a:r>
            <a:pPr indent="0" marL="0">
              <a:buNone/>
            </a:pPr>
            <a:r>
              <a:rPr lang="en-US" sz="14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 mayor de edad"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4873752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NO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523036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 </a:t>
            </a:r>
            <a:pPr indent="0" marL="0">
              <a:buNone/>
            </a:pPr>
            <a:r>
              <a:rPr lang="en-US" sz="14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 menor de edad"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5586984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SI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594360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· ejemplo con ITERACIÓN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Contar del 1 al 10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2286000"/>
            <a:ext cx="9418320" cy="347472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286000"/>
            <a:ext cx="91440" cy="3474720"/>
          </a:xfrm>
          <a:prstGeom prst="rect">
            <a:avLst/>
          </a:prstGeom>
          <a:solidFill>
            <a:srgbClr val="E8A36A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37744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ALGORITMO </a:t>
            </a:r>
            <a:pPr indent="0" marL="0">
              <a:buNone/>
            </a:pPr>
            <a:r>
              <a:rPr lang="en-US" sz="14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contar_del_1_al_10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2706624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</a:t>
            </a:r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3035808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</a:t>
            </a:r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numérico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3364992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3694176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</a:t>
            </a:r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4023360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MIENTRAS </a:t>
            </a:r>
            <a:pPr indent="0" marL="0">
              <a:buNone/>
            </a:pPr>
            <a:r>
              <a:rPr lang="en-US" sz="14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</a:t>
            </a:r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10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4352544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 </a:t>
            </a:r>
            <a:pPr indent="0" marL="0">
              <a:buNone/>
            </a:pPr>
            <a:r>
              <a:rPr lang="en-US" sz="14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4681728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</a:t>
            </a:r>
            <a:pPr indent="0" marL="0">
              <a:buNone/>
            </a:pPr>
            <a:r>
              <a:rPr lang="en-US" sz="1400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</a:t>
            </a:r>
            <a:pPr indent="0" marL="0">
              <a:buNone/>
            </a:pPr>
            <a:r>
              <a:rPr lang="en-US" sz="1400" dirty="0">
                <a:solidFill>
                  <a:srgbClr val="9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</a:t>
            </a:r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5010912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MIENTRAS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5340096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F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«numero» llega a 11, la condición se vuelve falsa y salimos del ciclo.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Scratch: programar con bloques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gratuita del MIT. Se programa arrastrando bloques de colores.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CATEGORÍAS PRINCIPALES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B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301752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FBF0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30175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Al hacer clic en bandera verde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C9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37947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4C97FF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37947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10 pasos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480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9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APARIENCIA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457200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9966FF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45720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 «Hola» por 2 segundos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5257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8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0" y="534924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F8C1A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53492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10 veces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primer programa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gato saluda y se mueve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0"/>
            <a:ext cx="7315200" cy="594360"/>
          </a:xfrm>
          <a:prstGeom prst="roundRect">
            <a:avLst>
              <a:gd name="adj" fmla="val 9231"/>
            </a:avLst>
          </a:prstGeom>
          <a:solidFill>
            <a:srgbClr val="FFBF00"/>
          </a:solidFill>
          <a:ln/>
        </p:spPr>
      </p:sp>
      <p:sp>
        <p:nvSpPr>
          <p:cNvPr id="5" name="Text 3"/>
          <p:cNvSpPr/>
          <p:nvPr/>
        </p:nvSpPr>
        <p:spPr>
          <a:xfrm>
            <a:off x="2423160" y="2468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Al hacer clic en bandera verde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23160" y="3154680"/>
            <a:ext cx="7315200" cy="594360"/>
          </a:xfrm>
          <a:prstGeom prst="roundRect">
            <a:avLst>
              <a:gd name="adj" fmla="val 9231"/>
            </a:avLst>
          </a:prstGeom>
          <a:solidFill>
            <a:srgbClr val="9966FF"/>
          </a:solidFill>
          <a:ln/>
        </p:spPr>
      </p:sp>
      <p:sp>
        <p:nvSpPr>
          <p:cNvPr id="7" name="Text 5"/>
          <p:cNvSpPr/>
          <p:nvPr/>
        </p:nvSpPr>
        <p:spPr>
          <a:xfrm>
            <a:off x="2423160" y="3154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  «¡Hola!»  por  2  segundos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23160" y="3840480"/>
            <a:ext cx="7315200" cy="594360"/>
          </a:xfrm>
          <a:prstGeom prst="roundRect">
            <a:avLst>
              <a:gd name="adj" fmla="val 9231"/>
            </a:avLst>
          </a:prstGeom>
          <a:solidFill>
            <a:srgbClr val="4C97FF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3840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 10  pasos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23160" y="4526280"/>
            <a:ext cx="7315200" cy="594360"/>
          </a:xfrm>
          <a:prstGeom prst="roundRect">
            <a:avLst>
              <a:gd name="adj" fmla="val 9231"/>
            </a:avLst>
          </a:prstGeom>
          <a:solidFill>
            <a:srgbClr val="9966FF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45262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  «Tengo 38 años»  por  2  segundos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7A4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bloques apilados = tu primer programa funcional.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scratch.mit.edu  ·  no necesitás instalar nada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A2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principal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entendés bien las tres estructuras,</a:t>
            </a:r>
            <a:endParaRPr lang="en-US" sz="3600" dirty="0"/>
          </a:p>
          <a:p>
            <a:pPr indent="0" marL="0">
              <a:buNone/>
            </a:pPr>
            <a:r>
              <a:rPr lang="en-US" sz="36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 tenés en la cabeza</a:t>
            </a:r>
            <a:endParaRPr lang="en-US" sz="3600" dirty="0"/>
          </a:p>
          <a:p>
            <a:pPr indent="0" marL="0">
              <a:buNone/>
            </a:pPr>
            <a:r>
              <a:rPr lang="en-US" sz="36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70% de la programación.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457200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C1632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572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Secuencia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97680" y="457200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C1632F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0" y="4572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Selección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0" y="457200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C1632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4572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Iteración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año que viene, en Programación Lógica, vas a darte cuenta de que ya entendés la lógica.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vas a estar aprendiendo una sintaxis nueva.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Glosario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palabras clave de la unidad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Pensamiento computacional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9768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razonar para resolver problemas.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Descomposición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un problema grande en partes.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lado los detalles irrelevantes.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Algoritmo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ordenada y finita de pasos.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Diagrama de flujo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visual de un algoritmo.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Secuencia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uno detrás del otro.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Selección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entre dos caminos según condición.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937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Iteración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una acción mientras se cumpla algo.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5303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Recipiente con nombre que guarda un valor.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5669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Pseudocódigo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5669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escrito en español estructurado.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pasar a la Unidad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¿Lo podés explicar?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1945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Descomponer un problema en al menos 6 partes.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788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un algoritmo paso a paso para una tarea cotidiana.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383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Dibujar un diagrama de flujo básico.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977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secuencia, selección e iteración.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5720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qué es una variable y dar un ejemplo.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2960" y="521208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5166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pseudocódigo para un problema simple.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22960" y="580644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806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5760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un programa en Scratch que funcione.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· Pensamiento computacional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A2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6B331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Hasta acá llegamos hoy.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 →  Unidad 6 · IA y futuro del trabajo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unidad del año.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tecnología que está cambiando todo.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B8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Informática  ·  1° E.P.J.A.  ·  EPET N°7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5 - Pensamiento computacional</dc:title>
  <dc:subject>PptxGenJS Presentation</dc:subject>
  <dc:creator>Docente E.P.J.A. - EPET N°7</dc:creator>
  <cp:lastModifiedBy>Docente E.P.J.A. - EPET N°7</cp:lastModifiedBy>
  <cp:revision>1</cp:revision>
  <dcterms:created xsi:type="dcterms:W3CDTF">2026-05-29T18:54:07Z</dcterms:created>
  <dcterms:modified xsi:type="dcterms:W3CDTF">2026-05-29T18:54:07Z</dcterms:modified>
</cp:coreProperties>
</file>